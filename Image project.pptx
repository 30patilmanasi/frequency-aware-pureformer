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2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654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IT507 – Advanced Image Processing  |  DA-IICT, Gandhinagar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Frequency-Aware Pureformer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19456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Image Denoising with Learnable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Domain Feature Enhancement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3246120"/>
            <a:ext cx="32004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3401568"/>
            <a:ext cx="7315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Manasi Patil  (202518034)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43159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Dr. Srimanta Mandal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5074920"/>
            <a:ext cx="2926080" cy="1024128"/>
          </a:xfrm>
          <a:prstGeom prst="roundRect">
            <a:avLst>
              <a:gd name="adj" fmla="val 8929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5120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+0.51 dB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5577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Gain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03320" y="5074920"/>
            <a:ext cx="2926080" cy="1024128"/>
          </a:xfrm>
          <a:prstGeom prst="roundRect">
            <a:avLst>
              <a:gd name="adj" fmla="val 8929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03320" y="5120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03320" y="5577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Gain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5074920"/>
            <a:ext cx="2926080" cy="1024128"/>
          </a:xfrm>
          <a:prstGeom prst="roundRect">
            <a:avLst>
              <a:gd name="adj" fmla="val 8929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95160" y="5120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+2.18 dB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5577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on S&amp;P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image denoising and why is it hard?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55680" cy="64008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Model:    y(i, j)  =  x(i, j)  +  η(i, j)        where  η ~ N(0, σ²)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45720" cy="32918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has noise mixed into it. You cannot tell which part is noise without knowing the original image. The problem is fundamentally ill-posed.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267712"/>
            <a:ext cx="45720" cy="32918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0" y="2286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clean image x from noisy y — without ever seeing x during inference. Suppress noise while keeping sharp edges and fine textures.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75320" y="2267712"/>
            <a:ext cx="45720" cy="32918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458200" y="2286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74320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= 10·log₁₀(1/MSE)  — higher is better. 14 dB = noisy input. 24 dB = good result.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measures structural similarity (0 to 1).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55321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noise types studied in this project: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5852160"/>
            <a:ext cx="2176272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585216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 η~N(0,σ²)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25496" y="5852160"/>
            <a:ext cx="2176272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825496" y="585216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&amp; Pepper  impulse at 0 or 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48072" y="5852160"/>
            <a:ext cx="2176272" cy="329184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48072" y="585216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 low-light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70648" y="5852160"/>
            <a:ext cx="2176272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70648" y="585216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Speckle  multiplicative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93224" y="5852160"/>
            <a:ext cx="2176272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793224" y="585216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 η~U[-a,a]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Papers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papers we studied and implemented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3949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321308"/>
            <a:ext cx="5394960" cy="66751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 —  LAN  (CVPR 2024)</a:t>
            </a:r>
            <a:endParaRPr lang="en-IN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949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263640" y="1296552"/>
            <a:ext cx="5394960" cy="5962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56019" y="1331705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2— 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Pureformer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(CVPRW 2025)</a:t>
            </a:r>
            <a:endParaRPr lang="en-US" sz="2000" b="1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053328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We extended Pureformer with a Frequency Branch (FFT-based filter) and applied LAN adaptation for unseen noise.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5273ECA-A665-BA66-7459-DBF8581DA859}"/>
              </a:ext>
            </a:extLst>
          </p:cNvPr>
          <p:cNvSpPr txBox="1">
            <a:spLocks/>
          </p:cNvSpPr>
          <p:nvPr/>
        </p:nvSpPr>
        <p:spPr>
          <a:xfrm>
            <a:off x="502920" y="2247528"/>
            <a:ext cx="5394960" cy="33916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/>
              <a:t>Problem Statement</a:t>
            </a:r>
            <a:r>
              <a:rPr lang="en-IN" sz="1800"/>
              <a:t>: Traditional denoising models fail on unseen real-world noise from different cameras and environments.</a:t>
            </a:r>
          </a:p>
          <a:p>
            <a:r>
              <a:rPr lang="en-IN" sz="1800" b="1"/>
              <a:t>Dataset Used</a:t>
            </a:r>
            <a:r>
              <a:rPr lang="en-IN" sz="1800"/>
              <a:t>: Training: SIDD dataset</a:t>
            </a:r>
            <a:br>
              <a:rPr lang="en-IN" sz="1800"/>
            </a:br>
            <a:r>
              <a:rPr lang="en-IN" sz="1800"/>
              <a:t>Testing: PolyU and Nam datasets</a:t>
            </a:r>
          </a:p>
          <a:p>
            <a:r>
              <a:rPr lang="en-IN" sz="1800" b="1"/>
              <a:t>Solution Proposed</a:t>
            </a:r>
            <a:r>
              <a:rPr lang="en-IN" sz="1800"/>
              <a:t>: LAN keeps the denoising network frozen and adapts the noisy image itself using a learnable noise offset.</a:t>
            </a:r>
          </a:p>
          <a:p>
            <a:r>
              <a:rPr lang="en-IN" sz="1800" b="1"/>
              <a:t>Key Contribution</a:t>
            </a:r>
            <a:r>
              <a:rPr lang="en-IN" sz="1800"/>
              <a:t>: Improves denoising performance without retraining the entire model.</a:t>
            </a:r>
          </a:p>
          <a:p>
            <a:r>
              <a:rPr lang="en-IN" sz="1800" b="1"/>
              <a:t>Limitation</a:t>
            </a:r>
            <a:r>
              <a:rPr lang="en-IN" sz="1800"/>
              <a:t>: Requires optimization during testing and gives moderate improvement for some noise conditions.</a:t>
            </a:r>
            <a:endParaRPr lang="en-IN" sz="18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E35EBA4-23D7-7BEC-C08B-C6652325EB33}"/>
              </a:ext>
            </a:extLst>
          </p:cNvPr>
          <p:cNvSpPr txBox="1">
            <a:spLocks/>
          </p:cNvSpPr>
          <p:nvPr/>
        </p:nvSpPr>
        <p:spPr>
          <a:xfrm>
            <a:off x="6355080" y="2126657"/>
            <a:ext cx="5013958" cy="403944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/>
              <a:t>Problem Statement</a:t>
            </a:r>
            <a:r>
              <a:rPr lang="en-IN" sz="1800"/>
              <a:t>: CNN-based denoising methods remove noise but also lose important image details and textures.</a:t>
            </a:r>
          </a:p>
          <a:p>
            <a:r>
              <a:rPr lang="en-IN" sz="1800" b="1"/>
              <a:t>Dataset Used</a:t>
            </a:r>
            <a:r>
              <a:rPr lang="en-IN" sz="1800"/>
              <a:t>: NTIRE 2025 Image Denoising Dataset, BSD68, Urban100</a:t>
            </a:r>
          </a:p>
          <a:p>
            <a:r>
              <a:rPr lang="en-IN" sz="1800" b="1"/>
              <a:t>Solution Proposed</a:t>
            </a:r>
            <a:r>
              <a:rPr lang="en-IN" sz="1800"/>
              <a:t>: Pureformer uses a Transformer-based encoder-decoder architecture with feature enhancement blocks for better denoising.</a:t>
            </a:r>
          </a:p>
          <a:p>
            <a:r>
              <a:rPr lang="en-IN" sz="1800" b="1"/>
              <a:t>Key Contribution</a:t>
            </a:r>
            <a:r>
              <a:rPr lang="en-IN" sz="1800"/>
              <a:t>: Removes heavy noise while preserving textures and fine image details.</a:t>
            </a:r>
          </a:p>
          <a:p>
            <a:r>
              <a:rPr lang="en-IN" sz="1800" b="1"/>
              <a:t>Limitation</a:t>
            </a:r>
            <a:r>
              <a:rPr lang="en-IN" sz="1800"/>
              <a:t>: Transformer models are computationally expensive and require large datasets for training.</a:t>
            </a:r>
            <a:endParaRPr lang="en-IN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</a:rPr>
              <a:t>Datasets Used for Training and Evaluation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3949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39496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BSD400 (</a:t>
            </a:r>
            <a:r>
              <a:rPr lang="en-IN" sz="1600" dirty="0">
                <a:solidFill>
                  <a:schemeClr val="bg1"/>
                </a:solidFill>
              </a:rPr>
              <a:t>Berkeley Segmentation Dataset)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Training Set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920240"/>
            <a:ext cx="5074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natural grayscale images — everyday scenes</a:t>
            </a:r>
            <a:endParaRPr lang="en-US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into </a:t>
            </a: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patches with stride 24</a:t>
            </a:r>
            <a:endParaRPr lang="en-US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about 14,400 training samples</a:t>
            </a:r>
            <a:endParaRPr lang="en-US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added fresh every epoch — </a:t>
            </a:r>
            <a:r>
              <a:rPr lang="es-ES" b="1" dirty="0"/>
              <a:t>y(x,y)=f(x,y)+η(x,y)</a:t>
            </a:r>
            <a:endParaRPr lang="en-US" b="1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50 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58368" y="4328160"/>
            <a:ext cx="5074920" cy="143256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r>
              <a:rPr lang="en-US" dirty="0"/>
              <a:t>Fresh noise is generated every epoch so the model observes different noisy realizations of the same image, improving robustness and acting as implicit data augmentation</a:t>
            </a:r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53949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263640" y="1325880"/>
            <a:ext cx="5334000" cy="4572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55080" y="128016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BSD68(</a:t>
            </a:r>
            <a:r>
              <a:rPr lang="en-IN" sz="1400" b="1" dirty="0">
                <a:solidFill>
                  <a:schemeClr val="bg1"/>
                </a:solidFill>
              </a:rPr>
              <a:t>Berkeley Segmentation Dataset)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Test/Evaluation Set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19088" y="1920240"/>
            <a:ext cx="5074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images — completely held out, never trained on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benchmark used by DnCNN, Restormer, Pureformer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direct comparison with published numbers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PSNR (dB) and SSIM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50 Gaussian noise applied at test time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58712" y="4328160"/>
            <a:ext cx="5074920" cy="1432560"/>
          </a:xfrm>
          <a:prstGeom prst="roundRect">
            <a:avLst>
              <a:gd name="adj" fmla="val 640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r>
              <a:rPr lang="en-IN" dirty="0"/>
              <a:t>LAN adaptation performed on 5 BSD68 images using unseen noise types (Salt &amp; Pepper, Speckle, Uniform) with frozen backbone and only 20 adaptation iterations.</a:t>
            </a:r>
          </a:p>
        </p:txBody>
      </p:sp>
      <p:sp>
        <p:nvSpPr>
          <p:cNvPr id="17" name="Text 15"/>
          <p:cNvSpPr/>
          <p:nvPr/>
        </p:nvSpPr>
        <p:spPr>
          <a:xfrm>
            <a:off x="6537960" y="46634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Our Contribution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Pureformer works and what we added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58568" y="1737360"/>
            <a:ext cx="12801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04872" y="1353312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04872" y="13533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737360"/>
            <a:ext cx="12801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98264" y="1353312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98264" y="13533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45352" y="1737360"/>
            <a:ext cx="12801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391656" y="1353312"/>
            <a:ext cx="1828800" cy="1115568"/>
          </a:xfrm>
          <a:prstGeom prst="roundRect">
            <a:avLst>
              <a:gd name="adj" fmla="val 8197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91656" y="1353312"/>
            <a:ext cx="1828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38744" y="1737360"/>
            <a:ext cx="12801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85048" y="1353312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85048" y="13533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32136" y="1737360"/>
            <a:ext cx="12801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378440" y="1353312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378440" y="13533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2514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from each encoder level to matching decoder level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88036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02920" y="3017520"/>
            <a:ext cx="45720" cy="36576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Feature Enhancer (original Pureformer)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342900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0080" y="345643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FE_base(x)  =  τ [ Conv 3×3(x),  Conv 5×5(x) ]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3017520"/>
            <a:ext cx="4572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Extended Feature Enhancer (added Frequency Branch)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3429000"/>
            <a:ext cx="562356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0" y="3456432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FE_ours(x)  =  τ [ Conv 3×3(x),  Conv 5×5(x),  FreqBranch(x) ]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4206240"/>
            <a:ext cx="4572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Branch — 3 simple steps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4572000"/>
            <a:ext cx="3703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94360" y="461772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94360" y="461772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" y="49834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F(u,v) = FFT( W_pre · x 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532180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2D Fourier Transform — convert to frequency domain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89120" y="4572000"/>
            <a:ext cx="3703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480560" y="461772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480560" y="461772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80560" y="49834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F_φ = F(u,v) ⊙ W(u,v)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480560" y="532180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learnable complex weights — suppresses noise frequencies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75320" y="4572000"/>
            <a:ext cx="3703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366760" y="461772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366760" y="461772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366760" y="49834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x_freq = Re( iFFT( F_φ ) 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66760" y="532180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FFT — convert back to pixel domain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2920" y="596188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Gaussian noise = flat white-noise spectrum in FFT — learnable W(u,v) directly suppresses 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7724"/>
            <a:ext cx="1210056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/>
              <a:t>Frequency Branch Improvement Over Baseline</a:t>
            </a:r>
            <a:endParaRPr lang="en-US" sz="2200" b="1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model compares to others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868680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426464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51960" y="142646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(dB)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42646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0" y="1426464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6868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199339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Input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51960" y="19933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0" y="19933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199339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487168"/>
            <a:ext cx="8686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56032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NL-Means  [classical]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251960" y="256032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19.98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0" y="256032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0.497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06640" y="2560320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054096"/>
            <a:ext cx="86868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127248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BM3D  [classical]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51960" y="312724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27.36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0" y="312724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06640" y="3127248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3621024"/>
            <a:ext cx="8686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694176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  [CNN]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251960" y="36941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27.92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0" y="369417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06640" y="369417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4187952"/>
            <a:ext cx="86868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" y="4261104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Restormer  [Transformer]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251960" y="42611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28.41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943600" y="426110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406640" y="4261104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8686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48640" y="482803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Pureformer Baseline  (our impl.)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251960" y="482803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24.12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943600" y="482803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0.5648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406640" y="482803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57200" y="5321808"/>
            <a:ext cx="8686800" cy="5486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48640" y="539496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Freq-Pureformer  (ours)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251960" y="53949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24.63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943600" y="539496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0.6154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406640" y="5394960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FFT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9372600" y="1353312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464040" y="14630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Gains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464040" y="1847088"/>
            <a:ext cx="233172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464040" y="202996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+0.51 dB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464040" y="24963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Baseline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418320" y="289864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+0.051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9418320" y="33512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Baseline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464040" y="382219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24.63 dB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418320" y="428853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7200" y="5989320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94360" y="6035040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Published models used 87,000 images and 2× A100 GPUs. We used 400 images on Google Colab. The +0.51 dB gain over our own baseline under identical conditions is the scientific contribution.</a:t>
            </a:r>
            <a:endParaRPr 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73D4AA-8F54-44BC-32FC-EBCED140F4C2}"/>
              </a:ext>
            </a:extLst>
          </p:cNvPr>
          <p:cNvSpPr txBox="1"/>
          <p:nvPr/>
        </p:nvSpPr>
        <p:spPr>
          <a:xfrm>
            <a:off x="9189720" y="5076920"/>
            <a:ext cx="27432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Our contribution focuses on validating learnable frequency enhancement under constrained training conditions.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Result1: Why Frequency-Domain Processing Helps Denoising</a:t>
            </a:r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pic>
        <p:nvPicPr>
          <p:cNvPr id="6" name="Image 0" descr="/home/claude/img_freq_analys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566928"/>
            <a:ext cx="3429000" cy="5303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200" b="1" dirty="0"/>
              <a:t>Top Row</a:t>
            </a:r>
          </a:p>
          <a:p>
            <a:r>
              <a:rPr lang="en-IN" sz="1200" dirty="0"/>
              <a:t>• Clean image → original image</a:t>
            </a:r>
            <a:br>
              <a:rPr lang="en-IN" sz="1200" dirty="0"/>
            </a:br>
            <a:r>
              <a:rPr lang="en-IN" sz="1200" dirty="0"/>
              <a:t>• Noisy image → Gaussian noise added</a:t>
            </a:r>
            <a:br>
              <a:rPr lang="en-IN" sz="1200" dirty="0"/>
            </a:br>
            <a:r>
              <a:rPr lang="en-IN" sz="1200" dirty="0"/>
              <a:t>• Noise image → extracted noise pattern</a:t>
            </a:r>
            <a:br>
              <a:rPr lang="en-IN" sz="1200" dirty="0"/>
            </a:br>
            <a:r>
              <a:rPr lang="en-IN" sz="1200" dirty="0"/>
              <a:t>• Difference image → shows corruption caused by noise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  <a:p>
            <a:r>
              <a:rPr lang="en-IN" sz="1200" b="1" dirty="0"/>
              <a:t>Bottom Row</a:t>
            </a:r>
          </a:p>
          <a:p>
            <a:r>
              <a:rPr lang="en-IN" sz="1200" dirty="0"/>
              <a:t>• Clean FFT magnitude → structured spectrum near </a:t>
            </a:r>
            <a:r>
              <a:rPr lang="en-IN" sz="1200" dirty="0" err="1"/>
              <a:t>center</a:t>
            </a:r>
            <a:br>
              <a:rPr lang="en-IN" sz="1200" dirty="0"/>
            </a:br>
            <a:r>
              <a:rPr lang="en-IN" sz="1200" dirty="0"/>
              <a:t>• Noisy FFT → noise spreads energy everywhere</a:t>
            </a:r>
            <a:br>
              <a:rPr lang="en-IN" sz="1200" dirty="0"/>
            </a:br>
            <a:r>
              <a:rPr lang="en-IN" sz="1200" dirty="0"/>
              <a:t>• Noise-only spectrum → almost flat white-noise spectrum</a:t>
            </a:r>
            <a:br>
              <a:rPr lang="en-IN" sz="1200" dirty="0"/>
            </a:br>
            <a:r>
              <a:rPr lang="en-IN" sz="1200" dirty="0"/>
              <a:t>• Phase spectrum → preserves image edges and structure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formula: F(u,v) = ΣΣ f(x,y)·e^(−j2π(ux/M+vy/N)).  Gaussian noise has flat spectrum = white noise. Our learnable W(u,v) learns to suppress it directly.</a:t>
            </a:r>
            <a:endParaRPr lang="en-US" sz="11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AB0552-1D54-D2F5-214A-4532D8A055A1}"/>
              </a:ext>
            </a:extLst>
          </p:cNvPr>
          <p:cNvSpPr txBox="1"/>
          <p:nvPr/>
        </p:nvSpPr>
        <p:spPr>
          <a:xfrm>
            <a:off x="8702040" y="4041648"/>
            <a:ext cx="3075432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Clean images have structured frequency spectra, while Gaussian noise spreads uniformly like white noise. This motivated our learnable FFT filtering branch.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2: Histogram &amp; Phase Analysis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&amp; 5</a:t>
            </a:r>
            <a:endParaRPr lang="en-US" sz="1000" dirty="0"/>
          </a:p>
        </p:txBody>
      </p:sp>
      <p:pic>
        <p:nvPicPr>
          <p:cNvPr id="6" name="Image 0" descr="/home/claude/img_hist_pha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73440" y="566928"/>
            <a:ext cx="34290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/>
              <p:cNvSpPr/>
              <p:nvPr/>
            </p:nvSpPr>
            <p:spPr>
              <a:xfrm>
                <a:off x="8668512" y="1078992"/>
                <a:ext cx="3200400" cy="3127248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 anchor="t"/>
              <a:lstStyle/>
              <a:p>
                <a:r>
                  <a:rPr lang="en-IN" b="1" dirty="0"/>
                  <a:t>Histogram Analysis</a:t>
                </a:r>
              </a:p>
              <a:p>
                <a:r>
                  <a:rPr lang="en-IN" sz="1200" dirty="0"/>
                  <a:t>• Clean image histogram → natural pixel distribution</a:t>
                </a:r>
                <a:br>
                  <a:rPr lang="en-IN" sz="1200" dirty="0"/>
                </a:br>
                <a:r>
                  <a:rPr lang="en-IN" sz="1200" dirty="0"/>
                  <a:t>• Noisy histogram → wider distribution due to added noise</a:t>
                </a:r>
                <a:br>
                  <a:rPr lang="en-IN" sz="1200" dirty="0"/>
                </a:br>
                <a:r>
                  <a:rPr lang="en-IN" sz="1200" dirty="0"/>
                  <a:t>• Noise PDF → follows Gaussian bell curve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sepChr m:val=",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sz="1200" dirty="0"/>
              </a:p>
              <a:p>
                <a:endParaRPr lang="ar-AE" sz="1200" dirty="0"/>
              </a:p>
              <a:p>
                <a:r>
                  <a:rPr lang="en-IN" sz="1400" b="1" dirty="0"/>
                  <a:t>Phase Spectrum Analysis</a:t>
                </a:r>
              </a:p>
              <a:p>
                <a:r>
                  <a:rPr lang="en-IN" sz="1200" dirty="0"/>
                  <a:t>• Clean phase spectrum → contains edges and structure</a:t>
                </a:r>
                <a:br>
                  <a:rPr lang="en-IN" sz="1200" dirty="0"/>
                </a:br>
                <a:r>
                  <a:rPr lang="en-IN" sz="1200" dirty="0"/>
                  <a:t>• Noisy phase spectrum → structure still mostly preserved</a:t>
                </a:r>
                <a:br>
                  <a:rPr lang="en-IN" sz="1200" dirty="0"/>
                </a:br>
                <a:r>
                  <a:rPr lang="en-IN" sz="1200" dirty="0"/>
                  <a:t>• Magnitude difference → noise energy spreads across frequencies</a:t>
                </a:r>
              </a:p>
              <a:p>
                <a:pPr>
                  <a:lnSpc>
                    <a:spcPct val="125000"/>
                  </a:lnSpc>
                  <a:buSzPct val="100000"/>
                </a:pPr>
                <a:endParaRPr lang="en-US" sz="1150" dirty="0"/>
              </a:p>
            </p:txBody>
          </p:sp>
        </mc:Choice>
        <mc:Fallback xmlns="">
          <p:sp>
            <p:nvSpPr>
              <p:cNvPr id="9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512" y="1078992"/>
                <a:ext cx="3200400" cy="3127248"/>
              </a:xfrm>
              <a:prstGeom prst="rect">
                <a:avLst/>
              </a:prstGeom>
              <a:blipFill>
                <a:blip r:embed="rId4"/>
                <a:stretch>
                  <a:fillRect l="-1328" t="-777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7"/>
          <p:cNvSpPr/>
          <p:nvPr/>
        </p:nvSpPr>
        <p:spPr>
          <a:xfrm>
            <a:off x="8613648" y="4251960"/>
            <a:ext cx="3288792" cy="141732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705088" y="42062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/>
              <a:t>Main Observation</a:t>
            </a:r>
            <a:r>
              <a:rPr lang="en-IN" sz="1400" dirty="0"/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damages magnitude but phase stays mostly intact — this is why denoising can work without destroying image structure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our model: noise broadens histograms and flattens the FFT magnitude, but the phase (which encodes edges and structure) is preserved. This is why our frequency filter can separate noise from signal.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: Noise Models — Spatial Domain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00" dirty="0"/>
          </a:p>
        </p:txBody>
      </p:sp>
      <p:pic>
        <p:nvPicPr>
          <p:cNvPr id="6" name="Image 0" descr="/home/claude/img_spati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566928"/>
            <a:ext cx="3429000" cy="5303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2551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/>
              <a:t>Top Row</a:t>
            </a:r>
          </a:p>
          <a:p>
            <a:r>
              <a:rPr lang="en-US" sz="1200" dirty="0"/>
              <a:t>• Same image with different noise types</a:t>
            </a:r>
            <a:br>
              <a:rPr lang="en-US" sz="1200" dirty="0"/>
            </a:br>
            <a:r>
              <a:rPr lang="en-US" sz="1200" dirty="0"/>
              <a:t>• Each noise affects image differently</a:t>
            </a:r>
            <a:br>
              <a:rPr lang="en-US" sz="1200" dirty="0"/>
            </a:br>
            <a:r>
              <a:rPr lang="en-US" sz="1200" dirty="0"/>
              <a:t>• PSNR decreases when noise increases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  <a:p>
            <a:r>
              <a:rPr lang="en-IN" sz="1200" b="1" dirty="0"/>
              <a:t>Bottom Row</a:t>
            </a:r>
          </a:p>
          <a:p>
            <a:r>
              <a:rPr lang="en-IN" sz="1200" dirty="0"/>
              <a:t>• Extracted noise patterns only</a:t>
            </a:r>
            <a:br>
              <a:rPr lang="en-IN" sz="1200" dirty="0"/>
            </a:br>
            <a:r>
              <a:rPr lang="en-IN" sz="1200" dirty="0"/>
              <a:t>• Gaussian → fine grain everywhere</a:t>
            </a:r>
            <a:br>
              <a:rPr lang="en-IN" sz="1200" dirty="0"/>
            </a:br>
            <a:r>
              <a:rPr lang="en-IN" sz="1200" dirty="0"/>
              <a:t>• Salt &amp; Pepper → black and white dots</a:t>
            </a:r>
            <a:br>
              <a:rPr lang="en-IN" sz="1200" dirty="0"/>
            </a:br>
            <a:r>
              <a:rPr lang="en-IN" sz="1200" dirty="0"/>
              <a:t>• Poisson → depends on brightness</a:t>
            </a:r>
            <a:br>
              <a:rPr lang="en-IN" sz="1200" dirty="0"/>
            </a:br>
            <a:r>
              <a:rPr lang="en-IN" sz="1200" dirty="0"/>
              <a:t>• Speckle → multiplicative textured noise</a:t>
            </a:r>
            <a:br>
              <a:rPr lang="en-IN" sz="1200" dirty="0"/>
            </a:br>
            <a:r>
              <a:rPr lang="en-IN" sz="1200" dirty="0"/>
              <a:t>• Uniform → evenly spread random noise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13648" y="41605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705088" y="42062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of noisy images: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14.7 → Uniform 21.5 dB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denoises Gaussian (σ=50) → 24.63 dB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noise type has a different probability distribution. Gaussian is the most common in practice. Our model is trained specifically for Gaussian σ=50.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5: Noise Frequency Spectra — All Noise Types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pic>
        <p:nvPicPr>
          <p:cNvPr id="6" name="Image 0" descr="/home/claude/img_noise_spectr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566928"/>
            <a:ext cx="34290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29718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IN" sz="1200" b="1" dirty="0"/>
              <a:t>Row 1 — Magnitude Spectrum |F(</a:t>
            </a:r>
            <a:r>
              <a:rPr lang="en-IN" sz="1200" b="1" dirty="0" err="1"/>
              <a:t>u,v</a:t>
            </a:r>
            <a:r>
              <a:rPr lang="en-IN" sz="1200" b="1" dirty="0"/>
              <a:t>)|</a:t>
            </a:r>
          </a:p>
          <a:p>
            <a:r>
              <a:rPr lang="en-IN" sz="1200" dirty="0"/>
              <a:t>• FFT magnitude spectrum for different noise types</a:t>
            </a:r>
            <a:br>
              <a:rPr lang="en-IN" sz="1200" dirty="0"/>
            </a:br>
            <a:r>
              <a:rPr lang="en-IN" sz="1200" dirty="0"/>
              <a:t>• Bright </a:t>
            </a:r>
            <a:r>
              <a:rPr lang="en-IN" sz="1200" dirty="0" err="1"/>
              <a:t>center</a:t>
            </a:r>
            <a:r>
              <a:rPr lang="en-IN" sz="1200" dirty="0"/>
              <a:t> = low-frequency image content</a:t>
            </a:r>
            <a:br>
              <a:rPr lang="en-IN" sz="1200" dirty="0"/>
            </a:br>
            <a:r>
              <a:rPr lang="en-IN" sz="1200" dirty="0"/>
              <a:t>• Noise spreads energy across frequencies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  <a:p>
            <a:r>
              <a:rPr lang="en-US" sz="1200" b="1" dirty="0"/>
              <a:t>Row 2 — Phase Spectrum ∠F(</a:t>
            </a:r>
            <a:r>
              <a:rPr lang="en-US" sz="1200" b="1" dirty="0" err="1"/>
              <a:t>u,v</a:t>
            </a:r>
            <a:r>
              <a:rPr lang="en-US" sz="1200" b="1" dirty="0"/>
              <a:t>)</a:t>
            </a:r>
          </a:p>
          <a:p>
            <a:r>
              <a:rPr lang="en-US" sz="1200" dirty="0"/>
              <a:t>• Phase stores image structure and edges</a:t>
            </a:r>
            <a:br>
              <a:rPr lang="en-US" sz="1200" dirty="0"/>
            </a:br>
            <a:r>
              <a:rPr lang="en-US" sz="1200" dirty="0"/>
              <a:t>• Even with noise, structural information remains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  <a:p>
            <a:r>
              <a:rPr lang="en-US" sz="1200" b="1" dirty="0"/>
              <a:t>Row 3 — Noise Spectrum |</a:t>
            </a:r>
            <a:r>
              <a:rPr lang="en-US" sz="1200" b="1" dirty="0" err="1"/>
              <a:t>Fn</a:t>
            </a:r>
            <a:r>
              <a:rPr lang="en-US" sz="1200" b="1" dirty="0"/>
              <a:t>(</a:t>
            </a:r>
            <a:r>
              <a:rPr lang="en-US" sz="1200" b="1" dirty="0" err="1"/>
              <a:t>u,v</a:t>
            </a:r>
            <a:r>
              <a:rPr lang="en-US" sz="1200" b="1" dirty="0"/>
              <a:t>)|</a:t>
            </a:r>
          </a:p>
          <a:p>
            <a:r>
              <a:rPr lang="en-US" sz="1200" dirty="0"/>
              <a:t>• Noise-only frequency spectrum</a:t>
            </a:r>
            <a:br>
              <a:rPr lang="en-US" sz="1200" dirty="0"/>
            </a:br>
            <a:r>
              <a:rPr lang="en-US" sz="1200" dirty="0"/>
              <a:t>• Almost flat for all noise types</a:t>
            </a:r>
            <a:br>
              <a:rPr lang="en-US" sz="1200" dirty="0"/>
            </a:br>
            <a:r>
              <a:rPr lang="en-US" sz="1200" dirty="0"/>
              <a:t>• Indicates white-noise behavior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68512" y="41605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r>
              <a:rPr lang="en-IN" dirty="0"/>
              <a:t>Key Insight:</a:t>
            </a:r>
          </a:p>
        </p:txBody>
      </p:sp>
      <p:sp>
        <p:nvSpPr>
          <p:cNvPr id="11" name="Text 8"/>
          <p:cNvSpPr/>
          <p:nvPr/>
        </p:nvSpPr>
        <p:spPr>
          <a:xfrm>
            <a:off x="8705088" y="42062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Most additive noises produce a nearly flat frequency spectrum.</a:t>
            </a:r>
            <a:br>
              <a:rPr lang="en-US" sz="1400" dirty="0"/>
            </a:br>
            <a:r>
              <a:rPr lang="en-US" sz="1400" dirty="0"/>
              <a:t>Therefore, learnable FFT filtering becomes effective for denoising.</a:t>
            </a:r>
          </a:p>
        </p:txBody>
      </p:sp>
      <p:sp>
        <p:nvSpPr>
          <p:cNvPr id="12" name="Shape 9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In frequency domain, noise energy spreads across frequencies while image structure remains in phase information. This motivates our learnable FFT-based frequency branch.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6: Training Curves — 30 Epochs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00" dirty="0"/>
          </a:p>
        </p:txBody>
      </p:sp>
      <p:pic>
        <p:nvPicPr>
          <p:cNvPr id="6" name="Image 0" descr="/home/claude/img_train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58200" y="536448"/>
            <a:ext cx="34290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3448" cy="3596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26441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 b="1" dirty="0"/>
              <a:t>Left Graph — Training Loss</a:t>
            </a:r>
          </a:p>
          <a:p>
            <a:r>
              <a:rPr lang="en-US" sz="1400" dirty="0"/>
              <a:t>• MSE loss decreases over epochs</a:t>
            </a:r>
            <a:br>
              <a:rPr lang="en-US" sz="1400" dirty="0"/>
            </a:br>
            <a:r>
              <a:rPr lang="en-US" sz="1400" dirty="0"/>
              <a:t>• Both models successfully learn</a:t>
            </a:r>
            <a:br>
              <a:rPr lang="en-US" sz="1400" dirty="0"/>
            </a:br>
            <a:r>
              <a:rPr lang="en-US" sz="1400" dirty="0"/>
              <a:t>• Curves become stable after convergence</a:t>
            </a:r>
          </a:p>
          <a:p>
            <a:pPr>
              <a:lnSpc>
                <a:spcPct val="125000"/>
              </a:lnSpc>
              <a:buSzPct val="100000"/>
            </a:pPr>
            <a:endParaRPr lang="en-US" sz="1400" dirty="0"/>
          </a:p>
          <a:p>
            <a:r>
              <a:rPr lang="en-US" sz="1400" b="1" dirty="0"/>
              <a:t>Right Graph — Validation PSNR</a:t>
            </a:r>
          </a:p>
          <a:p>
            <a:r>
              <a:rPr lang="en-US" sz="1400" dirty="0"/>
              <a:t>• PSNR evaluated on BSD68 test set</a:t>
            </a:r>
            <a:br>
              <a:rPr lang="en-US" sz="1400" dirty="0"/>
            </a:br>
            <a:r>
              <a:rPr lang="en-US" sz="1400" dirty="0"/>
              <a:t>• Higher PSNR = better denoising quality</a:t>
            </a:r>
            <a:br>
              <a:rPr lang="en-US" sz="1400" dirty="0"/>
            </a:br>
            <a:r>
              <a:rPr lang="en-US" sz="1400" dirty="0"/>
              <a:t>• Red curve (ours) stays above baseline most of the time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13648" y="3950208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r>
              <a:rPr lang="en-IN" dirty="0"/>
              <a:t>Key Insight:</a:t>
            </a:r>
          </a:p>
          <a:p>
            <a:r>
              <a:rPr lang="en-US" sz="1400" dirty="0"/>
              <a:t>Similar training loss but higher validation PSNR shows that the frequency branch improves reconstruction quality rather than simply memorizing training data.</a:t>
            </a:r>
            <a:endParaRPr lang="en-IN" sz="1400" dirty="0"/>
          </a:p>
        </p:txBody>
      </p:sp>
      <p:sp>
        <p:nvSpPr>
          <p:cNvPr id="11" name="Text 8"/>
          <p:cNvSpPr/>
          <p:nvPr/>
        </p:nvSpPr>
        <p:spPr>
          <a:xfrm>
            <a:off x="8705088" y="42062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480" y="6067044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Both models converge to similar MSE loss, but our model consistently achieves higher PSNR, proving the effectiveness of the learnable frequency branch.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7: Visual Comparison — Baseline vs Ours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BSD68, σ=50</a:t>
            </a:r>
            <a:endParaRPr lang="en-US" sz="1000" dirty="0"/>
          </a:p>
        </p:txBody>
      </p:sp>
      <p:pic>
        <p:nvPicPr>
          <p:cNvPr id="6" name="Image 0" descr="/home/claude/img_visu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566928"/>
            <a:ext cx="34290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29718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200" b="1" dirty="0"/>
              <a:t>Row 1 — Airplane</a:t>
            </a:r>
          </a:p>
          <a:p>
            <a:r>
              <a:rPr lang="en-US" sz="1200" dirty="0"/>
              <a:t>• Smooth regions and simple structure</a:t>
            </a:r>
            <a:br>
              <a:rPr lang="en-US" sz="1200" dirty="0"/>
            </a:br>
            <a:r>
              <a:rPr lang="en-US" sz="1200" dirty="0"/>
              <a:t>• Baseline performs reasonably well</a:t>
            </a:r>
            <a:br>
              <a:rPr lang="en-US" sz="1200" dirty="0"/>
            </a:br>
            <a:r>
              <a:rPr lang="en-US" sz="1200" dirty="0"/>
              <a:t>• Small improvement from frequency branch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  <a:p>
            <a:r>
              <a:rPr lang="en-US" sz="1200" b="1" dirty="0"/>
              <a:t>Row 2 — Flower Texture</a:t>
            </a:r>
          </a:p>
          <a:p>
            <a:r>
              <a:rPr lang="en-US" sz="1200" dirty="0"/>
              <a:t>• Complex high-frequency details</a:t>
            </a:r>
            <a:br>
              <a:rPr lang="en-US" sz="1200" dirty="0"/>
            </a:br>
            <a:r>
              <a:rPr lang="en-US" sz="1200" dirty="0"/>
              <a:t>• Our model preserves texture better</a:t>
            </a:r>
            <a:br>
              <a:rPr lang="en-US" sz="1200" dirty="0"/>
            </a:br>
            <a:r>
              <a:rPr lang="en-US" sz="1200" dirty="0"/>
              <a:t>• Sharper reconstruction with fewer artifacts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  <a:p>
            <a:r>
              <a:rPr lang="en-US" sz="1200" b="1" dirty="0"/>
              <a:t>Row 3 — Landscape</a:t>
            </a:r>
          </a:p>
          <a:p>
            <a:r>
              <a:rPr lang="en-US" sz="1200" dirty="0"/>
              <a:t>• Fine edges and structural regions</a:t>
            </a:r>
            <a:br>
              <a:rPr lang="en-US" sz="1200" dirty="0"/>
            </a:br>
            <a:r>
              <a:rPr lang="en-US" sz="1200" dirty="0"/>
              <a:t>• Frequency branch recovers more details</a:t>
            </a:r>
            <a:br>
              <a:rPr lang="en-US" sz="1200" dirty="0"/>
            </a:br>
            <a:r>
              <a:rPr lang="en-US" sz="1200" dirty="0"/>
              <a:t>• Better contrast and texture preservation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13648" y="41605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r>
              <a:rPr lang="en-IN" dirty="0"/>
              <a:t>Key Insight:</a:t>
            </a:r>
          </a:p>
          <a:p>
            <a:r>
              <a:rPr lang="en-US" sz="1600" dirty="0"/>
              <a:t>The frequency-aware branch provides the biggest improvement on textured and high-frequency regions where spatial-only denoising loses detail.</a:t>
            </a:r>
            <a:endParaRPr lang="en-IN" sz="1600" dirty="0"/>
          </a:p>
        </p:txBody>
      </p:sp>
      <p:sp>
        <p:nvSpPr>
          <p:cNvPr id="11" name="Text 8"/>
          <p:cNvSpPr/>
          <p:nvPr/>
        </p:nvSpPr>
        <p:spPr>
          <a:xfrm>
            <a:off x="8705088" y="42062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r>
              <a:rPr lang="en-US" dirty="0"/>
              <a:t>Our model achieves better texture preservation and structural similarity, leading to higher PSNR and SSIM compared to the baseline </a:t>
            </a:r>
            <a:r>
              <a:rPr lang="en-US" dirty="0" err="1"/>
              <a:t>Pureformer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3" name="Shape 10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8: Ablation Study — Does the Frequency Branch Actually Help?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Proof</a:t>
            </a:r>
            <a:endParaRPr lang="en-US" sz="1000" dirty="0"/>
          </a:p>
        </p:txBody>
      </p:sp>
      <p:pic>
        <p:nvPicPr>
          <p:cNvPr id="6" name="Image 0" descr="/home/claude/img_abl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566928"/>
            <a:ext cx="34290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21031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IN" sz="1400" b="1" dirty="0"/>
              <a:t>Left Graph — PSNR</a:t>
            </a:r>
          </a:p>
          <a:p>
            <a:r>
              <a:rPr lang="en-IN" sz="1400" dirty="0"/>
              <a:t>• Baseline: 24.12 dB</a:t>
            </a:r>
            <a:br>
              <a:rPr lang="en-IN" sz="1400" dirty="0"/>
            </a:br>
            <a:r>
              <a:rPr lang="en-IN" sz="1400" dirty="0"/>
              <a:t>• Ours: 24.63 dB</a:t>
            </a:r>
            <a:br>
              <a:rPr lang="en-IN" sz="1400" dirty="0"/>
            </a:br>
            <a:r>
              <a:rPr lang="en-IN" sz="1400" dirty="0"/>
              <a:t>• Improvement: +0.51 dB</a:t>
            </a: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endParaRPr lang="en-US" sz="1400" dirty="0"/>
          </a:p>
          <a:p>
            <a:r>
              <a:rPr lang="en-US" sz="1400" b="1" dirty="0"/>
              <a:t>Right Graph — SSIM</a:t>
            </a:r>
          </a:p>
          <a:p>
            <a:r>
              <a:rPr lang="en-US" sz="1400" dirty="0"/>
              <a:t>• Baseline: 0.5648</a:t>
            </a:r>
            <a:br>
              <a:rPr lang="en-US" sz="1400" dirty="0"/>
            </a:br>
            <a:r>
              <a:rPr lang="en-US" sz="1400" dirty="0"/>
              <a:t>• Ours: 0.6154</a:t>
            </a:r>
            <a:br>
              <a:rPr lang="en-US" sz="1400" dirty="0"/>
            </a:br>
            <a:r>
              <a:rPr lang="en-US" sz="1400" dirty="0"/>
              <a:t>• Better structural similarity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13648" y="3182112"/>
            <a:ext cx="324612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686800" y="32735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808208" y="32735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0" y="32735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13648" y="3749040"/>
            <a:ext cx="324612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686800" y="3840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(Conv3+Conv5)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808208" y="38404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430000" y="38404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0.5648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13648" y="4315968"/>
            <a:ext cx="3246120" cy="5486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686800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Freq Branch (ours)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808208" y="440740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30000" y="440740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0.6154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613648" y="493776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r>
              <a:rPr lang="en-IN" dirty="0"/>
              <a:t>Key Proof: </a:t>
            </a:r>
            <a:r>
              <a:rPr lang="en-US" sz="1400" dirty="0"/>
              <a:t>+0.51 dB PSNR and higher SSIM are achieved only by adding the learnable frequency branch.</a:t>
            </a:r>
            <a:endParaRPr lang="en-IN" sz="1400" dirty="0"/>
          </a:p>
        </p:txBody>
      </p:sp>
      <p:sp>
        <p:nvSpPr>
          <p:cNvPr id="23" name="Text 20"/>
          <p:cNvSpPr/>
          <p:nvPr/>
        </p:nvSpPr>
        <p:spPr>
          <a:xfrm>
            <a:off x="8705088" y="4983480"/>
            <a:ext cx="3090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This ablation study isolates the effect of the FFT frequency branch and confirms that it is the source of the performance improvement.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9: LAN Adaptation — Unseen Noise Types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Adaptation</a:t>
            </a:r>
            <a:endParaRPr lang="en-US" sz="1000" dirty="0"/>
          </a:p>
        </p:txBody>
      </p:sp>
      <p:pic>
        <p:nvPicPr>
          <p:cNvPr id="6" name="Image 0" descr="/home/claude/img_l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279782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 b="1" dirty="0"/>
              <a:t>Columns</a:t>
            </a:r>
          </a:p>
          <a:p>
            <a:r>
              <a:rPr lang="en-US" sz="1400" dirty="0"/>
              <a:t>• Clean ground truth image</a:t>
            </a:r>
            <a:br>
              <a:rPr lang="en-US" sz="1400" dirty="0"/>
            </a:br>
            <a:r>
              <a:rPr lang="en-US" sz="1400" dirty="0"/>
              <a:t>• Noisy image with unseen noise</a:t>
            </a:r>
            <a:br>
              <a:rPr lang="en-US" sz="1400" dirty="0"/>
            </a:br>
            <a:r>
              <a:rPr lang="en-US" sz="1400" dirty="0"/>
              <a:t>• Direct output without adaptation</a:t>
            </a:r>
            <a:br>
              <a:rPr lang="en-US" sz="1400" dirty="0"/>
            </a:br>
            <a:r>
              <a:rPr lang="en-US" sz="1400" dirty="0"/>
              <a:t>• LAN-adapted output</a:t>
            </a:r>
            <a:br>
              <a:rPr lang="en-US" sz="1400" dirty="0"/>
            </a:br>
            <a:r>
              <a:rPr lang="en-US" sz="1400" dirty="0"/>
              <a:t>• Learned offset visualization</a:t>
            </a:r>
          </a:p>
          <a:p>
            <a:pPr>
              <a:lnSpc>
                <a:spcPct val="125000"/>
              </a:lnSpc>
              <a:buSzPct val="100000"/>
            </a:pPr>
            <a:endParaRPr lang="en-US" sz="1400" dirty="0"/>
          </a:p>
          <a:p>
            <a:r>
              <a:rPr lang="en-IN" sz="1400" b="1" dirty="0"/>
              <a:t>Rows</a:t>
            </a:r>
          </a:p>
          <a:p>
            <a:r>
              <a:rPr lang="en-IN" sz="1400" dirty="0"/>
              <a:t>• Row 1: Salt &amp; Pepper noise</a:t>
            </a:r>
            <a:br>
              <a:rPr lang="en-IN" sz="1400" dirty="0"/>
            </a:br>
            <a:r>
              <a:rPr lang="en-IN" sz="1400" dirty="0"/>
              <a:t>• Row 2: Speckle noise</a:t>
            </a:r>
            <a:br>
              <a:rPr lang="en-IN" sz="1400" dirty="0"/>
            </a:br>
            <a:r>
              <a:rPr lang="en-IN" sz="1400" dirty="0"/>
              <a:t>• Row 3: Uniform noise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0" y="29443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149840" y="294436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789920" y="294436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430000" y="294436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formula: φ* = argmin ||f_θ(D₁(y+φ)) − D₂(y+φ)||². </a:t>
            </a:r>
            <a:r>
              <a:rPr lang="en-US" sz="1200" dirty="0"/>
              <a:t>LAN learns a small correction offset φ* so the noisy input becomes easier for the pretrained denoiser to process.</a:t>
            </a:r>
            <a:endParaRPr lang="en-US" sz="11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5715BE-E7B8-8D52-A53A-B6A923F09EE9}"/>
              </a:ext>
            </a:extLst>
          </p:cNvPr>
          <p:cNvSpPr txBox="1"/>
          <p:nvPr/>
        </p:nvSpPr>
        <p:spPr>
          <a:xfrm>
            <a:off x="8709660" y="4178570"/>
            <a:ext cx="2880360" cy="16004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Key Results:                              </a:t>
            </a:r>
          </a:p>
          <a:p>
            <a:r>
              <a:rPr lang="en-US" sz="1600" dirty="0"/>
              <a:t>Salt &amp; Pepper benefits the most</a:t>
            </a:r>
            <a:br>
              <a:rPr lang="en-US" sz="1600" dirty="0"/>
            </a:br>
            <a:r>
              <a:rPr lang="en-US" sz="1600" dirty="0"/>
              <a:t>• Uniform noise already resembles Gaussian behavior</a:t>
            </a:r>
            <a:br>
              <a:rPr lang="en-US" sz="1600" dirty="0"/>
            </a:br>
            <a:r>
              <a:rPr lang="en-US" sz="1600" dirty="0"/>
              <a:t>• Speckle is harder because it is multiplicative noise</a:t>
            </a:r>
            <a:endParaRPr lang="en-IN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" y="0"/>
            <a:ext cx="12161520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256032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1417320"/>
          </a:xfrm>
          <a:prstGeom prst="roundRect">
            <a:avLst>
              <a:gd name="adj" fmla="val 6452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18872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Branch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" y="2779776"/>
            <a:ext cx="11430000" cy="1417320"/>
          </a:xfrm>
          <a:prstGeom prst="roundRect">
            <a:avLst>
              <a:gd name="adj" fmla="val 6452"/>
            </a:avLst>
          </a:prstGeom>
          <a:solidFill>
            <a:srgbClr val="000000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85292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>
                <a:solidFill>
                  <a:srgbClr val="FF0000"/>
                </a:solidFill>
              </a:rPr>
              <a:t>Frequency-Aware Architecture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54480" y="3282696"/>
            <a:ext cx="4693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• Combined spatial and frequency-domain learning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• Minimal architectural modification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• FFT branch integrated into Feature Enhancer block</a:t>
            </a:r>
          </a:p>
        </p:txBody>
      </p:sp>
      <p:sp>
        <p:nvSpPr>
          <p:cNvPr id="16" name="Shape 14"/>
          <p:cNvSpPr/>
          <p:nvPr/>
        </p:nvSpPr>
        <p:spPr>
          <a:xfrm>
            <a:off x="411480" y="4352544"/>
            <a:ext cx="11430000" cy="1417320"/>
          </a:xfrm>
          <a:prstGeom prst="roundRect">
            <a:avLst>
              <a:gd name="adj" fmla="val 6452"/>
            </a:avLst>
          </a:prstGeom>
          <a:solidFill>
            <a:srgbClr val="000000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548640" y="4626864"/>
            <a:ext cx="822960" cy="82296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462686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Adaptation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855464"/>
            <a:ext cx="4693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• Tested on unseen noise types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Adaptation works without retraining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Significant gain on Salt &amp; Pepper noise</a:t>
            </a:r>
          </a:p>
        </p:txBody>
      </p:sp>
      <p:sp>
        <p:nvSpPr>
          <p:cNvPr id="21" name="Text 19"/>
          <p:cNvSpPr/>
          <p:nvPr/>
        </p:nvSpPr>
        <p:spPr>
          <a:xfrm>
            <a:off x="762000" y="5948172"/>
            <a:ext cx="10686288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</a:rPr>
              <a:t>Our work shows that combining spatial transformers with learnable frequency-domain filtering improves image denoising performance while keeping the architecture lightweight.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9BD99E-829C-89DC-7C0B-BB357749B759}"/>
              </a:ext>
            </a:extLst>
          </p:cNvPr>
          <p:cNvSpPr txBox="1"/>
          <p:nvPr/>
        </p:nvSpPr>
        <p:spPr>
          <a:xfrm>
            <a:off x="6934200" y="1359991"/>
            <a:ext cx="3931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Result</a:t>
            </a:r>
          </a:p>
          <a:p>
            <a:r>
              <a:rPr lang="en-IN" dirty="0">
                <a:solidFill>
                  <a:schemeClr val="bg1"/>
                </a:solidFill>
              </a:rPr>
              <a:t>• +0.51 dB PSNR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• +0.051 SSIM</a:t>
            </a:r>
          </a:p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881A79-78F8-0205-3BF7-10D8F3E2A926}"/>
              </a:ext>
            </a:extLst>
          </p:cNvPr>
          <p:cNvSpPr txBox="1"/>
          <p:nvPr/>
        </p:nvSpPr>
        <p:spPr>
          <a:xfrm>
            <a:off x="1402080" y="1645920"/>
            <a:ext cx="50139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• Added a learnable FFT frequency branch inside </a:t>
            </a:r>
            <a:r>
              <a:rPr lang="en-US" sz="1400" dirty="0" err="1">
                <a:solidFill>
                  <a:schemeClr val="bg1"/>
                </a:solidFill>
              </a:rPr>
              <a:t>Pureformer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• Directly suppresses white-noise frequency components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• Improved denoising performance on BSD68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E463DD-198E-E902-A124-07E2B3AF376B}"/>
              </a:ext>
            </a:extLst>
          </p:cNvPr>
          <p:cNvSpPr txBox="1"/>
          <p:nvPr/>
        </p:nvSpPr>
        <p:spPr>
          <a:xfrm>
            <a:off x="6934200" y="2827592"/>
            <a:ext cx="3947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Idea</a:t>
            </a:r>
          </a:p>
          <a:p>
            <a:r>
              <a:rPr lang="en-US" dirty="0">
                <a:solidFill>
                  <a:schemeClr val="bg1"/>
                </a:solidFill>
              </a:rPr>
              <a:t>• Spatial branch → local textures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Frequency branch → noise suppression</a:t>
            </a:r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ACB980-A3B9-B700-513D-266DF89AD1B1}"/>
              </a:ext>
            </a:extLst>
          </p:cNvPr>
          <p:cNvSpPr txBox="1"/>
          <p:nvPr/>
        </p:nvSpPr>
        <p:spPr>
          <a:xfrm>
            <a:off x="7101840" y="4604004"/>
            <a:ext cx="3535680" cy="96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Result</a:t>
            </a:r>
          </a:p>
          <a:p>
            <a:r>
              <a:rPr lang="en-IN" dirty="0">
                <a:solidFill>
                  <a:schemeClr val="bg1"/>
                </a:solidFill>
              </a:rPr>
              <a:t>• +2.18 dB improvement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2203</Words>
  <Application>Microsoft Office PowerPoint</Application>
  <PresentationFormat>Widescreen</PresentationFormat>
  <Paragraphs>276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PATIL MANASI MOHAN (FCP Student)</cp:lastModifiedBy>
  <cp:revision>6</cp:revision>
  <dcterms:created xsi:type="dcterms:W3CDTF">2026-05-12T10:30:30Z</dcterms:created>
  <dcterms:modified xsi:type="dcterms:W3CDTF">2026-09-24T20:34:15Z</dcterms:modified>
</cp:coreProperties>
</file>